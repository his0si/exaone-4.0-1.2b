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EXAONE-4.0-1.2B 모델 경량화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8BBFF"/>
                </a:solidFill>
              </a:defRPr>
            </a:pPr>
            <a:r>
              <a:t>QuantizationModifier W8A8 + Context Window 축소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AA55"/>
                </a:solidFill>
              </a:defRPr>
            </a:pPr>
            <a:r>
              <a:t>Public Score: 0.6295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BB"/>
                </a:solidFill>
              </a:defRPr>
            </a:pPr>
            <a:r>
              <a:t>모델 크기: 2.4GB → 1.4GB (42% 감소)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66FF"/>
                </a:solidFill>
              </a:defRPr>
            </a:pPr>
            <a:r>
              <a:t>과제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</a:defRPr>
            </a:pPr>
            <a:r>
              <a:t>평가 지표</a:t>
            </a:r>
          </a:p>
          <a:p>
            <a:pPr algn="l">
              <a:defRPr sz="1600" b="0">
                <a:solidFill>
                  <a:srgbClr val="1A1A2E"/>
                </a:solidFill>
              </a:defRPr>
            </a:pPr>
          </a:p>
          <a:p>
            <a:pPr algn="l">
              <a:defRPr sz="1600" b="1">
                <a:solidFill>
                  <a:srgbClr val="0066FF"/>
                </a:solidFill>
              </a:defRPr>
            </a:pPr>
            <a:r>
              <a:t>Score = 0.5 × PerfNorm + 0.5 × SpeedNorm</a:t>
            </a:r>
          </a:p>
          <a:p>
            <a:pPr algn="l">
              <a:defRPr sz="1600" b="0">
                <a:solidFill>
                  <a:srgbClr val="1A1A2E"/>
                </a:solidFill>
              </a:defRPr>
            </a:pP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PerfNorm = 압축모델 성능 / 베이스모델 성능</a:t>
            </a: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SpeedNorm = 1 − (압축모델 spt / 베이스모델 spt)</a:t>
            </a:r>
          </a:p>
          <a:p>
            <a:pPr algn="l">
              <a:defRPr sz="1600" b="0">
                <a:solidFill>
                  <a:srgbClr val="1A1A2E"/>
                </a:solidFill>
              </a:defRPr>
            </a:pPr>
          </a:p>
          <a:p>
            <a:pPr algn="l">
              <a:defRPr sz="2000" b="1">
                <a:solidFill>
                  <a:srgbClr val="1A1A2E"/>
                </a:solidFill>
              </a:defRPr>
            </a:pPr>
            <a:r>
              <a:t>평가 환경</a:t>
            </a:r>
          </a:p>
          <a:p>
            <a:pPr algn="l">
              <a:defRPr sz="1600" b="0">
                <a:solidFill>
                  <a:srgbClr val="1A1A2E"/>
                </a:solidFill>
              </a:defRPr>
            </a:pP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서버 GPU: L4 (24GB, Ada Lovelace)</a:t>
            </a: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vLLM 기반 추론</a:t>
            </a: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W8A8 → CutlassScaledMM 커널 사용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</a:defRPr>
            </a:pPr>
            <a:r>
              <a:t>벤치마크</a:t>
            </a:r>
          </a:p>
          <a:p>
            <a:pPr algn="l">
              <a:defRPr sz="1600" b="0">
                <a:solidFill>
                  <a:srgbClr val="1A1A2E"/>
                </a:solidFill>
              </a:defRPr>
            </a:pP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KMMLU-Pro (MCQA, 2822문항)</a:t>
            </a: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KMMLU-Redux (MCQA, 2587문항)</a:t>
            </a: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Ko-LongRAG (QA, 600문항)</a:t>
            </a: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KoMT-Bench (생성, 80문항)</a:t>
            </a:r>
          </a:p>
          <a:p>
            <a:pPr algn="l">
              <a:defRPr sz="1600" b="0">
                <a:solidFill>
                  <a:srgbClr val="1A1A2E"/>
                </a:solidFill>
              </a:defRPr>
            </a:pPr>
          </a:p>
          <a:p>
            <a:pPr algn="l">
              <a:defRPr sz="2000" b="1">
                <a:solidFill>
                  <a:srgbClr val="1A1A2E"/>
                </a:solidFill>
              </a:defRPr>
            </a:pPr>
            <a:r>
              <a:t>핵심 제약</a:t>
            </a:r>
          </a:p>
          <a:p>
            <a:pPr algn="l">
              <a:defRPr sz="1600" b="0">
                <a:solidFill>
                  <a:srgbClr val="1A1A2E"/>
                </a:solidFill>
              </a:defRPr>
            </a:pP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1.2B 소형 모델 → INT4 양자화 시 품질 붕괴</a:t>
            </a: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로컬(RTX 4090)과 서버(L4)의 최적 방식 상이</a:t>
            </a: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L4에서 W8A8만 유효 (W8A16, FP8 등 비효율)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66FF"/>
                </a:solidFill>
              </a:defRPr>
            </a:pPr>
            <a:r>
              <a:t>최종 솔루션: QuantizationModifier W8A8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9144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4572000"/>
              </a:tblGrid>
              <a:tr h="51435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설정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양자화 도구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llmcompressor QuantizationModifier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양자화 스킴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W8A8 (INT8 weight + INT8 activation)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per-channel, symmetric, static (minmax)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Activation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per-token, symmetric, dynamic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제외 레이어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embed_tokens, lm_head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max_position_embeddings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65536 → 16384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캘리브레이션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MANTA-1M, 2048 샘플, seq=2048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</a:p>
          <a:p>
            <a:pPr algn="l">
              <a:defRPr sz="1400" b="0">
                <a:solidFill>
                  <a:srgbClr val="00AA55"/>
                </a:solidFill>
              </a:defRPr>
            </a:pPr>
            <a:r>
              <a:t>✓ Data-Free 양자화 (Hessian 계산 없음) → 캘리브레이션 과적합 방지</a:t>
            </a:r>
          </a:p>
          <a:p>
            <a:pPr algn="l">
              <a:defRPr sz="1400" b="0">
                <a:solidFill>
                  <a:srgbClr val="00AA55"/>
                </a:solidFill>
              </a:defRPr>
            </a:pPr>
            <a:r>
              <a:t>✓ Dynamic activation → 입력별 최적 스케일 → 품질 유지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66FF"/>
                </a:solidFill>
              </a:defRPr>
            </a:pPr>
            <a:r>
              <a:t>양자화 방식별 서버 제출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9144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방법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서버 Score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비고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QuantizationModifier W8A8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0.6295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최종 선택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GPTQ W8A8 + SparseGPT 10%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0.6246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비정형 스파시티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GPTQ W8A8 (damp=0.02)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0.6208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Hessian 캘리브레이션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GPTQ W8A16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~0.52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L4에서 느린 커널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FP8 Dynamic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~0.50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FP8 커널 비효율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GPTQ W4A16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~0.49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1.2B에 INT4 과도한 손실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029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</a:p>
          <a:p>
            <a:pPr algn="l">
              <a:defRPr sz="1500" b="1">
                <a:solidFill>
                  <a:srgbClr val="1A1A2E"/>
                </a:solidFill>
              </a:defRPr>
            </a:pPr>
            <a:r>
              <a:t>핵심 발견: 단순한 min-max 양자화(QuantMod)가 복잡한 GPTQ보다 서버에서 우수</a:t>
            </a:r>
          </a:p>
          <a:p>
            <a:pPr algn="l">
              <a:defRPr sz="1400" b="0">
                <a:solidFill>
                  <a:srgbClr val="666666"/>
                </a:solidFill>
              </a:defRPr>
            </a:pPr>
            <a:r>
              <a:t>→ GPTQ의 Hessian 최적화가 캘리브레이션 데이터에 과적합되어 실제 평가에서 일반화 저하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66FF"/>
                </a:solidFill>
              </a:defRPr>
            </a:pPr>
            <a:r>
              <a:t>시도했으나 효과 없었던 방법들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1435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방법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결과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원인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SFT (LoRA) → 양자화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perf 하락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1.2B에 MANTA SFT 오히려 성능 저하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Post-quant SFT (norm만)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변화 없음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학습 파라미터 &lt;5%로 불충분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레이어 프루닝 (30→28L)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perf 0.325→0.308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속도 이득 대비 품질 손실 과도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FFN 폭 프루닝 (25%)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perf 0.273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너무 공격적인 구조 변경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Vocab 프루닝 (102k→80k)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서버 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byte-fallback으로 토큰 수 폭증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Self-KD + QuantMod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perf 소폭 하락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minmax에 KD 가중치 민감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KV Cache FP8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변화 없음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L4에서 메모리가 병목 아님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</a:p>
          <a:p>
            <a:pPr algn="l">
              <a:defRPr sz="1400" b="0">
                <a:solidFill>
                  <a:srgbClr val="666666"/>
                </a:solidFill>
              </a:defRPr>
            </a:pPr>
            <a:r>
              <a:t>총 110+ 모델 실험, 다양한 양자화/프루닝/파인튜닝 조합 탐색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66FF"/>
                </a:solidFill>
              </a:defRPr>
            </a:pPr>
            <a:r>
              <a:t>핵심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1. 로컬 ≠ 서버</a:t>
            </a:r>
          </a:p>
          <a:p>
            <a:pPr algn="l">
              <a:defRPr sz="1600" b="0">
                <a:solidFill>
                  <a:srgbClr val="1A1A2E"/>
                </a:solidFill>
              </a:defRPr>
            </a:pP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RTX 4090: Marlin 커널 → W4A16 최적</a:t>
            </a: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L4: Cutlass INT8 커널 → W8A8 최적</a:t>
            </a:r>
          </a:p>
          <a:p>
            <a:pPr algn="l">
              <a:defRPr sz="1400" b="0">
                <a:solidFill>
                  <a:srgbClr val="CC3333"/>
                </a:solidFill>
              </a:defRPr>
            </a:pPr>
            <a:r>
              <a:t>• 로컬 점수만 보고 제출하면 실패</a:t>
            </a:r>
          </a:p>
          <a:p>
            <a:pPr algn="l">
              <a:defRPr sz="1600" b="0">
                <a:solidFill>
                  <a:srgbClr val="1A1A2E"/>
                </a:solidFill>
              </a:defRPr>
            </a:pPr>
          </a:p>
          <a:p>
            <a:pPr algn="l">
              <a:defRPr sz="2200" b="1">
                <a:solidFill>
                  <a:srgbClr val="1A1A2E"/>
                </a:solidFill>
              </a:defRPr>
            </a:pPr>
            <a:r>
              <a:t>2. 소형 모델의 양자화 한계</a:t>
            </a:r>
          </a:p>
          <a:p>
            <a:pPr algn="l">
              <a:defRPr sz="1600" b="0">
                <a:solidFill>
                  <a:srgbClr val="1A1A2E"/>
                </a:solidFill>
              </a:defRPr>
            </a:pP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1.2B 파라미터 = INT4에 너무 민감</a:t>
            </a: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INT8 (W8A8)이 품질/속도 최적점</a:t>
            </a: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SFT/KD로 복구 시도도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3. 단순함의 승리</a:t>
            </a:r>
          </a:p>
          <a:p>
            <a:pPr algn="l">
              <a:defRPr sz="1600" b="0">
                <a:solidFill>
                  <a:srgbClr val="1A1A2E"/>
                </a:solidFill>
              </a:defRPr>
            </a:pP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QuantMod(minmax) &gt; GPTQ(Hessian)</a:t>
            </a: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복잡한 캘리브레이션이 과적합 유발</a:t>
            </a: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Data-Free가 오히려 일반화 우수</a:t>
            </a:r>
          </a:p>
          <a:p>
            <a:pPr algn="l">
              <a:defRPr sz="1600" b="0">
                <a:solidFill>
                  <a:srgbClr val="1A1A2E"/>
                </a:solidFill>
              </a:defRPr>
            </a:pPr>
          </a:p>
          <a:p>
            <a:pPr algn="l">
              <a:defRPr sz="2200" b="1">
                <a:solidFill>
                  <a:srgbClr val="1A1A2E"/>
                </a:solidFill>
              </a:defRPr>
            </a:pPr>
            <a:r>
              <a:t>4. Context Window = 숨은 속도 변수</a:t>
            </a:r>
          </a:p>
          <a:p>
            <a:pPr algn="l">
              <a:defRPr sz="1600" b="0">
                <a:solidFill>
                  <a:srgbClr val="1A1A2E"/>
                </a:solidFill>
              </a:defRPr>
            </a:pP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65536 → 16384 축소</a:t>
            </a: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KV Cache 4배 절감 → 배치 효율 향상</a:t>
            </a:r>
          </a:p>
          <a:p>
            <a:pPr algn="l">
              <a:defRPr sz="1400" b="0">
                <a:solidFill>
                  <a:srgbClr val="1A1A2E"/>
                </a:solidFill>
              </a:defRPr>
            </a:pPr>
            <a:r>
              <a:t>• 벤치마크 최대 ~16k이므로 품질 무손실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66FF"/>
                </a:solidFill>
              </a:defRPr>
            </a:pPr>
            <a:r>
              <a:t>모델 크기 비교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0" y="1371600"/>
          <a:ext cx="7315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베이스 모델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경량화 모델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정밀도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BF16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INT8 (W8A8)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모델 크기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2.4 GB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1.4 GB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압축률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42% 감소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max_position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65536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16384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서버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0.5 (기준)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0.6295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029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</a:defRPr>
            </a:pPr>
          </a:p>
          <a:p>
            <a:pPr algn="l">
              <a:defRPr sz="1800" b="1">
                <a:solidFill>
                  <a:srgbClr val="1A1A2E"/>
                </a:solidFill>
              </a:defRPr>
            </a:pPr>
            <a:r>
              <a:t>재현 방법:</a:t>
            </a:r>
          </a:p>
          <a:p>
            <a:pPr algn="l">
              <a:defRPr sz="1400" b="0">
                <a:solidFill>
                  <a:srgbClr val="666666"/>
                </a:solidFill>
              </a:defRPr>
            </a:pPr>
            <a:r>
              <a:t>pip install torch vllm llmcompressor transformers</a:t>
            </a:r>
          </a:p>
          <a:p>
            <a:pPr algn="l">
              <a:defRPr sz="1400" b="0">
                <a:solidFill>
                  <a:srgbClr val="666666"/>
                </a:solidFill>
              </a:defRPr>
            </a:pPr>
            <a:r>
              <a:t>python reproduce.py  # ~10초, 12GB GPU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