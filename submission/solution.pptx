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F8C8D"/>
                </a:solidFill>
                <a:latin typeface="맑은 고딕"/>
              </a:defRPr>
            </a:pPr>
            <a:r>
              <a:t>LG Aimers Phase 2 — LLM 경량화 해커톤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EXAONE-4.0-1.2B 모델 경량화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5C1E9"/>
                </a:solidFill>
                <a:latin typeface="맑은 고딕"/>
              </a:defRPr>
            </a:pPr>
            <a:r>
              <a:t>QuantizationModifier W8A8 + Context Window 축소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206240"/>
            <a:ext cx="4480560" cy="1097280"/>
          </a:xfrm>
          <a:prstGeom prst="round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Final Score: 0.6295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  <a:latin typeface="맑은 고딕"/>
              </a:defRPr>
            </a:pPr>
            <a:r>
              <a:t>모델 크기: 2.4GB → 1.4GB (42% 감소)  |  추론 속도: 1,811 → 2,435 tok/s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맑은 고딕"/>
              </a:defRPr>
            </a:pPr>
            <a:r>
              <a:t>팀원: [이름 직접 기재]  |  오프라인 참가 여부: [직접 기재]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AA0"/>
                </a:solidFill>
                <a:latin typeface="맑은 고딕"/>
              </a:defRPr>
            </a:pPr>
            <a:r>
              <a:t>과제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8100"/>
          </a:xfrm>
          <a:prstGeom prst="rect">
            <a:avLst/>
          </a:prstGeom>
          <a:solidFill>
            <a:srgbClr val="2D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AA0"/>
                </a:solidFill>
                <a:latin typeface="맑은 고딕"/>
              </a:defRPr>
            </a:pPr>
            <a:r>
              <a:t>평가 지표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600" b="1">
                <a:solidFill>
                  <a:srgbClr val="2D5AA0"/>
                </a:solidFill>
                <a:latin typeface="맑은 고딕"/>
              </a:defRPr>
            </a:pPr>
            <a:r>
              <a:t>Score = 0.5 × PerfNorm + 0.5 × SpeedNorm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PerfNorm = 압축모델 성능 / 베이스모델 성능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SpeedNorm = 1 − (압축 time/tok / 베이스 time/tok)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→ 비압축 모델: Score = 0.5 (PerfNorm=1, SpeedNorm=0)</a:t>
            </a:r>
          </a:p>
          <a:p>
            <a:pPr algn="l">
              <a:defRPr sz="1400" b="1">
                <a:solidFill>
                  <a:srgbClr val="E84D3D"/>
                </a:solidFill>
                <a:latin typeface="맑은 고딕"/>
              </a:defRPr>
            </a:pPr>
            <a:r>
              <a:t>→ 성능 유지 + 속도 향상이 핵심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2000" b="1">
                <a:solidFill>
                  <a:srgbClr val="2D5AA0"/>
                </a:solidFill>
                <a:latin typeface="맑은 고딕"/>
              </a:defRPr>
            </a:pPr>
            <a:r>
              <a:t>평가 환경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서버 GPU: NVIDIA L4 (24GB, Ada Lovelace)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추론 엔진: vLLM 0.14.1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베이스 모델: EXAONE-4.0-1.2B (2.4GB, BF16)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제출 제한: 압축 10GB / 비압축 32GB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AA0"/>
                </a:solidFill>
                <a:latin typeface="맑은 고딕"/>
              </a:defRPr>
            </a:pPr>
            <a:r>
              <a:t>평가 벤치마크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KMMLU-Pro (한국어 MCQA, 2,822문항)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KMMLU-Redux (한국어 MCQA, 2,587문항)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Ko-LongRAG (긴 문맥 QA, 600문항)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KoMT-Bench (GPT-4 채점, 80문항)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657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AA0"/>
                </a:solidFill>
                <a:latin typeface="맑은 고딕"/>
              </a:defRPr>
            </a:pPr>
            <a:r>
              <a:t>핵심 제약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1.2B 소형 모델 → INT4 양자화 시 품질 붕괴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로컬(RTX 5060Ti)과 서버(L4)의 최적 방식 상이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L4에서 W8A8(INT8)만 실질적 속도 향상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• W8A16, FP8 등은 커널 비효율로 속도 이득 미미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AA0"/>
                </a:solidFill>
                <a:latin typeface="맑은 고딕"/>
              </a:defRPr>
            </a:pPr>
            <a:r>
              <a:t>최종 솔루션 — QuantizationModifier W8A8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8100"/>
          </a:xfrm>
          <a:prstGeom prst="rect">
            <a:avLst/>
          </a:prstGeom>
          <a:solidFill>
            <a:srgbClr val="2D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AA0"/>
                </a:solidFill>
                <a:latin typeface="맑은 고딕"/>
              </a:defRPr>
            </a:pPr>
            <a:r>
              <a:t>양자화 설정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설정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양자화 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llmcompressor 0.9.0.1 (QuantizationModifier)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양자화 스킴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W8A8 (INT8 weight + INT8 activation)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Weight 양자화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per-channel, symmetric, static (minmax)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Activation 양자화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per-token, symmetric, dynamic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대상 레이어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모든 Linear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제외 레이어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embed_tokens, lm_head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캘리브레이션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MANTA-1M 2,048 샘플, seq_len=2048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AA0"/>
                </a:solidFill>
                <a:latin typeface="맑은 고딕"/>
              </a:defRPr>
            </a:pPr>
            <a:r>
              <a:t>Context Window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max_position_embeddings:</a:t>
            </a:r>
          </a:p>
          <a:p>
            <a:pPr algn="l">
              <a:defRPr sz="1600" b="1">
                <a:solidFill>
                  <a:srgbClr val="E84D3D"/>
                </a:solidFill>
                <a:latin typeface="맑은 고딕"/>
              </a:defRPr>
            </a:pPr>
            <a:r>
              <a:t>65,536 → 16,384 (4배 축소)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• KV Cache 메모리 4배 절감</a:t>
            </a:r>
          </a:p>
          <a:p>
            <a:pPr algn="l">
              <a:defRPr sz="1300" b="0">
                <a:solidFill>
                  <a:srgbClr val="2C3E50"/>
                </a:solidFill>
                <a:latin typeface="맑은 고딕"/>
              </a:defRPr>
            </a:pPr>
            <a:r>
              <a:t>• 더 큰 배치 처리 → 추론 속도 향상</a:t>
            </a:r>
          </a:p>
          <a:p>
            <a:pPr algn="l">
              <a:defRPr sz="1300" b="0">
                <a:solidFill>
                  <a:srgbClr val="27AE60"/>
                </a:solidFill>
                <a:latin typeface="맑은 고딕"/>
              </a:defRPr>
            </a:pPr>
            <a:r>
              <a:t>• 벤치마크 최대 입력 ~16k → 품질 손실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AA0"/>
                </a:solidFill>
                <a:latin typeface="맑은 고딕"/>
              </a:defRPr>
            </a:pPr>
            <a:r>
              <a:t>QuantMod vs GPTQ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400" b="1">
                <a:solidFill>
                  <a:srgbClr val="27AE60"/>
                </a:solidFill>
                <a:latin typeface="맑은 고딕"/>
              </a:defRPr>
            </a:pPr>
            <a:r>
              <a:t>QuantMod (min-max): 0.6295 ← 최종 선택</a:t>
            </a:r>
          </a:p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GPTQ (Hessian): 0.6208</a:t>
            </a:r>
          </a:p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300" b="1">
                <a:solidFill>
                  <a:srgbClr val="E84D3D"/>
                </a:solidFill>
                <a:latin typeface="맑은 고딕"/>
              </a:defRPr>
            </a:pPr>
            <a:r>
              <a:t>→ 역설적으로 단순한 방식이 더 높은 점수</a:t>
            </a:r>
          </a:p>
          <a:p>
            <a:pPr algn="l">
              <a:defRPr sz="1200" b="0">
                <a:solidFill>
                  <a:srgbClr val="7F8C8D"/>
                </a:solidFill>
                <a:latin typeface="맑은 고딕"/>
              </a:defRPr>
            </a:pPr>
            <a:r>
              <a:t>• GPTQ Hessian이 캘리브레이션 데이터에 과적합</a:t>
            </a:r>
          </a:p>
          <a:p>
            <a:pPr algn="l">
              <a:defRPr sz="1200" b="0">
                <a:solidFill>
                  <a:srgbClr val="7F8C8D"/>
                </a:solidFill>
                <a:latin typeface="맑은 고딕"/>
              </a:defRPr>
            </a:pPr>
            <a:r>
              <a:t>• min-max 방식이 분포 변화에 더 robust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AA0"/>
                </a:solidFill>
                <a:latin typeface="맑은 고딕"/>
              </a:defRPr>
            </a:pPr>
            <a:r>
              <a:t>양자화 방식별 서버 결과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8100"/>
          </a:xfrm>
          <a:prstGeom prst="rect">
            <a:avLst/>
          </a:prstGeom>
          <a:solidFill>
            <a:srgbClr val="2D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840480"/>
                <a:gridCol w="1371600"/>
                <a:gridCol w="1097280"/>
                <a:gridCol w="429768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방법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서버 Score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모델 크기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5AA0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5AA0"/>
                          </a:solidFill>
                          <a:latin typeface="맑은 고딕"/>
                        </a:defRPr>
                      </a:pPr>
                      <a:r>
                        <a:t>QuantMod W8A8 + ctx16k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5AA0"/>
                          </a:solidFill>
                          <a:latin typeface="맑은 고딕"/>
                        </a:defRPr>
                      </a:pPr>
                      <a:r>
                        <a:t>0.6295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5AA0"/>
                          </a:solidFill>
                          <a:latin typeface="맑은 고딕"/>
                        </a:defRPr>
                      </a:pPr>
                      <a:r>
                        <a:t>1.4 GB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5AA0"/>
                          </a:solidFill>
                          <a:latin typeface="맑은 고딕"/>
                        </a:defRPr>
                      </a:pPr>
                      <a:r>
                        <a:t>최종 제출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GPTQ W8A8 + SparseGPT 10%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0.6246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1.3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비정형 스파시티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GPTQ W8A8 (cal=2048, d=0.02)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0.6208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Hessian 캘리브레이션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GPTQ W8A8 (d=0.05)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0.6077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1.8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dampening 과다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GPTQ W8A8 기본 (d=0.01)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0.6042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기본 설정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W4A16 GPTQ (n=512)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0.5099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1.3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4비트 품질 손실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GPTQ W8A8 actorder=group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0.5085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커널 비효율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FP8 Dynamic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0.4936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1.4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L4 FP8 커널 미흡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W4A16 + 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0.4825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1.3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SFT 효과 미미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W8A8 Selective (5L BF16)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0.4718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1.8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혼합 정밀도 페널티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SFT + W4A16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0.3202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1.3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SFT 성능 저하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3.5세대 KD + W4A16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0.2632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1.3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세대 불일치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맑은 고딕"/>
              </a:defRPr>
            </a:pPr>
            <a:r>
              <a:t>W8A8: PerfNorm≈0.99, SpeedNorm≈0.12  |  W4A16: PerfNorm≈0.50~0.57  |  FP8: SpeedNorm≈0.002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AA0"/>
                </a:solidFill>
                <a:latin typeface="맑은 고딕"/>
              </a:defRPr>
            </a:pPr>
            <a:r>
              <a:t>시도했으나 실패한 방법들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47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84D3D"/>
                </a:solidFill>
                <a:latin typeface="맑은 고딕"/>
              </a:defRPr>
            </a:pPr>
            <a:r>
              <a:t>총 110+ 모델 실험, 15+ 서버 제출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38100"/>
          </a:xfrm>
          <a:prstGeom prst="rect">
            <a:avLst/>
          </a:prstGeom>
          <a:solidFill>
            <a:srgbClr val="2D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1828800"/>
                <a:gridCol w="4663440"/>
              </a:tblGrid>
              <a:tr h="37882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시도한 방법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실패 원인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4비트 양자화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W4A16 GPTQ (256/512/1024 샘플)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Score 0.47~0.51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1.2B에 INT4 품질 손실 과도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FP8 양자화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FP8 Dynamic / Static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Score ~0.49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L4 FP8 커널 최적화 부족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SFT (미세조정)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LoRA SFT → 양자화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Score 0.32~0.48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MANTA SFT가 1.2B 성능 저하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Post-quant SFT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양자화 후 norm만 SFT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변화 없음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학습 파라미터 &lt;5% 불충분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레이어 프루닝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30L → 28L/26L + 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Score 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속도 이득 대비 품질 손실 과도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FFN 프루닝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25% FFN 폭 축소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perf 0.273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너무 공격적, 복구 불가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Vocab 프루닝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102k → 80k 토큰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Score 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byte-fallback으로 토큰 폭증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지식증류 (KD)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32B/7.8B teacher → 1.2B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Score 0.26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가중치 변경 → 양자화 에러 증가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SmoothQuant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활성화 분포 평탄화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실행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EXAONE 아키텍처 미지원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2:4 Sparsity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Wanda 구조적 스파시티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실행 불가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compute cap &gt;= 90 필요 (L4=89)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Selective Quant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후반 5개 레이어 BF16 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Score 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혼합 정밀도 → INT8 커널 이탈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GPTQ Advanced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actorder=group, block=128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Score 0.51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그룹 양자화 CUTLASS 비효율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7883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FP8 KV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KV Cache FP8 양자화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변화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vLLM이 설정 무시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AA0"/>
                </a:solidFill>
                <a:latin typeface="맑은 고딕"/>
              </a:defRPr>
            </a:pPr>
            <a:r>
              <a:t>핵심 인사이트 4가지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8100"/>
          </a:xfrm>
          <a:prstGeom prst="rect">
            <a:avLst/>
          </a:prstGeom>
          <a:solidFill>
            <a:srgbClr val="2D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3774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A0"/>
                </a:solidFill>
                <a:latin typeface="맑은 고딕"/>
              </a:defRPr>
            </a:pPr>
            <a:r>
              <a:t>1. L4 GPU에서 W8A8 (INT8)만 유효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CutlassScaledMM 커널로 INT8 연산 가속 (~24%)</a:t>
            </a: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W8A16은 AllSpark 커널 → 느림</a:t>
            </a: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FP8은 vLLM 커널 최적화 부족</a:t>
            </a:r>
          </a:p>
          <a:p>
            <a:pPr algn="l">
              <a:defRPr sz="1200" b="1">
                <a:solidFill>
                  <a:srgbClr val="E84D3D"/>
                </a:solidFill>
                <a:latin typeface="맑은 고딕"/>
              </a:defRPr>
            </a:pPr>
            <a:r>
              <a:t>→ 하드웨어별 최적 커널 확인 필수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23774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A0"/>
                </a:solidFill>
                <a:latin typeface="맑은 고딕"/>
              </a:defRPr>
            </a:pPr>
            <a:r>
              <a:t>2. 단순한 양자화가 최고 성능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QuantMod(min-max) &gt; GPTQ(Hessian)</a:t>
            </a: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복잡한 캘리브레이션이 과적합 유발</a:t>
            </a: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Data-Free가 오히려 일반화 우수</a:t>
            </a:r>
          </a:p>
          <a:p>
            <a:pPr algn="l">
              <a:defRPr sz="1200" b="1">
                <a:solidFill>
                  <a:srgbClr val="E84D3D"/>
                </a:solidFill>
                <a:latin typeface="맑은 고딕"/>
              </a:defRPr>
            </a:pPr>
            <a:r>
              <a:t>→ vLLM INT8 CUTLASS 커널 경로 유지가 핵심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5303520" cy="23774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A0"/>
                </a:solidFill>
                <a:latin typeface="맑은 고딕"/>
              </a:defRPr>
            </a:pPr>
            <a:r>
              <a:t>3. 로컬 vs 서버 결과 괴리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RTX 5060Ti와 L4: 최적 양자화 방식 다름</a:t>
            </a: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양자화에 따라 vLLM 커널 선택 달라짐</a:t>
            </a: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로컬에서 비슷해도 서버에서 큰 차이</a:t>
            </a:r>
          </a:p>
          <a:p>
            <a:pPr algn="l">
              <a:defRPr sz="1200" b="1">
                <a:solidFill>
                  <a:srgbClr val="E84D3D"/>
                </a:solidFill>
                <a:latin typeface="맑은 고딕"/>
              </a:defRPr>
            </a:pPr>
            <a:r>
              <a:t>→ 반드시 서버 제출 기준으로 최종 판단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303520" cy="23774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AA0"/>
                </a:solidFill>
                <a:latin typeface="맑은 고딕"/>
              </a:defRPr>
            </a:pPr>
            <a:r>
              <a:t>4. 소형 모델(1.2B)의 양자화 특성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INT4는 7B+에서 효과적, 1.2B는 품질 손실 과도</a:t>
            </a: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KD 가중치 변경 시 양자화 에러 급증 (최대 94.65)</a:t>
            </a:r>
          </a:p>
          <a:p>
            <a:pPr algn="l">
              <a:defRPr sz="1200" b="0">
                <a:solidFill>
                  <a:srgbClr val="2C3E50"/>
                </a:solidFill>
                <a:latin typeface="맑은 고딕"/>
              </a:defRPr>
            </a:pPr>
            <a:r>
              <a:t>• SFT도 소형 모델에서 오히려 성능 저하</a:t>
            </a:r>
          </a:p>
          <a:p>
            <a:pPr algn="l">
              <a:defRPr sz="1200" b="1">
                <a:solidFill>
                  <a:srgbClr val="E84D3D"/>
                </a:solidFill>
                <a:latin typeface="맑은 고딕"/>
              </a:defRPr>
            </a:pPr>
            <a:r>
              <a:t>→ 소형 모델은 최소한의 변형(W8A8)이 최적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AA0"/>
                </a:solidFill>
                <a:latin typeface="맑은 고딕"/>
              </a:defRPr>
            </a:pPr>
            <a:r>
              <a:t>모델 크기 비교 + 재현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8100"/>
          </a:xfrm>
          <a:prstGeom prst="rect">
            <a:avLst/>
          </a:prstGeom>
          <a:solidFill>
            <a:srgbClr val="2D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AA0"/>
                </a:solidFill>
                <a:latin typeface="맑은 고딕"/>
              </a:defRPr>
            </a:pPr>
            <a:r>
              <a:t>성능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베이스 모델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경량화 모델</a:t>
                      </a:r>
                    </a:p>
                  </a:txBody>
                  <a:tcPr>
                    <a:solidFill>
                      <a:srgbClr val="2D5AA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정밀도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BF16 (16비트)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INT8 (W8A8)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모델 크기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2.4 GB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1.4 GB (42% 감소)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max_position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65,536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16,384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추론 속도 (L4)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1,811 tok/s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2,435 tok/s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PerfNorm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0.990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SpeedNorm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0.121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5AA0"/>
                          </a:solidFill>
                          <a:latin typeface="맑은 고딕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5AA0"/>
                          </a:solidFill>
                          <a:latin typeface="맑은 고딕"/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D5AA0"/>
                          </a:solidFill>
                          <a:latin typeface="맑은 고딕"/>
                        </a:defRPr>
                      </a:pPr>
                      <a:r>
                        <a:t>0.6295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AA0"/>
                </a:solidFill>
                <a:latin typeface="맑은 고딕"/>
              </a:defRPr>
            </a:pPr>
            <a:r>
              <a:t>재현 방법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30352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7AE60"/>
                </a:solidFill>
                <a:latin typeface="Consolas"/>
              </a:defRPr>
            </a:pPr>
          </a:p>
          <a:p>
            <a:pPr algn="l">
              <a:defRPr sz="1100" b="1">
                <a:solidFill>
                  <a:srgbClr val="6A9955"/>
                </a:solidFill>
                <a:latin typeface="Consolas"/>
              </a:defRPr>
            </a:pPr>
            <a:r>
              <a:t># 1. 환경 설정</a:t>
            </a:r>
          </a:p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conda create -n lgaimers python=3.10</a:t>
            </a:r>
          </a:p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conda activate lgaimers</a:t>
            </a:r>
          </a:p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pip install -r requirements.txt</a:t>
            </a:r>
          </a:p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defRPr sz="1100" b="1">
                <a:solidFill>
                  <a:srgbClr val="6A9955"/>
                </a:solidFill>
                <a:latin typeface="Consolas"/>
              </a:defRPr>
            </a:pPr>
            <a:r>
              <a:t># 2. 경량화 실행 (~10초)</a:t>
            </a:r>
          </a:p>
          <a:p>
            <a:pPr algn="l">
              <a:defRPr sz="1100" b="0">
                <a:solidFill>
                  <a:srgbClr val="85C1E9"/>
                </a:solidFill>
                <a:latin typeface="Consolas"/>
              </a:defRPr>
            </a:pPr>
            <a:r>
              <a:t>python reproduce.py</a:t>
            </a:r>
          </a:p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defRPr sz="1100" b="1">
                <a:solidFill>
                  <a:srgbClr val="6A9955"/>
                </a:solidFill>
                <a:latin typeface="Consolas"/>
              </a:defRPr>
            </a:pPr>
            <a:r>
              <a:t># 핵심 코드 (reproduce.py):</a:t>
            </a:r>
          </a:p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QuantizationModifier(</a:t>
            </a:r>
          </a:p>
          <a:p>
            <a:pPr algn="l">
              <a:defRPr sz="1100" b="0">
                <a:solidFill>
                  <a:srgbClr val="CE9178"/>
                </a:solidFill>
                <a:latin typeface="Consolas"/>
              </a:defRPr>
            </a:pPr>
            <a:r>
              <a:t>    scheme="W8A8",</a:t>
            </a:r>
          </a:p>
          <a:p>
            <a:pPr algn="l">
              <a:defRPr sz="1100" b="0">
                <a:solidFill>
                  <a:srgbClr val="CE9178"/>
                </a:solidFill>
                <a:latin typeface="Consolas"/>
              </a:defRPr>
            </a:pPr>
            <a:r>
              <a:t>    targets=["Linear"],</a:t>
            </a:r>
          </a:p>
          <a:p>
            <a:pPr algn="l">
              <a:defRPr sz="1100" b="0">
                <a:solidFill>
                  <a:srgbClr val="CE9178"/>
                </a:solidFill>
                <a:latin typeface="Consolas"/>
              </a:defRPr>
            </a:pPr>
            <a:r>
              <a:t>    ignore=["embed_tokens",</a:t>
            </a:r>
          </a:p>
          <a:p>
            <a:pPr algn="l">
              <a:defRPr sz="1100" b="0">
                <a:solidFill>
                  <a:srgbClr val="CE9178"/>
                </a:solidFill>
                <a:latin typeface="Consolas"/>
              </a:defRPr>
            </a:pPr>
            <a:r>
              <a:t>           "lm_head"]</a:t>
            </a:r>
          </a:p>
          <a:p>
            <a:pPr algn="l">
              <a:defRPr sz="1100" b="0">
                <a:solidFill>
                  <a:srgbClr val="DCDCAA"/>
                </a:solidFill>
                <a:latin typeface="Consolas"/>
              </a:defRPr>
            </a:pPr>
            <a:r>
              <a:t>)</a:t>
            </a:r>
          </a:p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defRPr sz="1100" b="1">
                <a:solidFill>
                  <a:srgbClr val="6A9955"/>
                </a:solidFill>
                <a:latin typeface="Consolas"/>
              </a:defRPr>
            </a:pPr>
            <a:r>
              <a:t># config.json 수정:</a:t>
            </a:r>
          </a:p>
          <a:p>
            <a:pPr algn="l">
              <a:defRPr sz="1100" b="0">
                <a:solidFill>
                  <a:srgbClr val="6A9955"/>
                </a:solidFill>
                <a:latin typeface="Consolas"/>
              </a:defRPr>
            </a:pPr>
            <a:r>
              <a:t># max_position: 65536 → 16384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60720"/>
            <a:ext cx="11247120" cy="6400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D5AA0"/>
                </a:solidFill>
                <a:latin typeface="맑은 고딕"/>
              </a:defRPr>
            </a:pPr>
            <a:r>
              <a:t>   GPU: 12GB+  |  양자화: ~10초  |  외부 데이터: MANTA-1M (LG AI Research 공개)  |  결과: submit.zip (1.2GB)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